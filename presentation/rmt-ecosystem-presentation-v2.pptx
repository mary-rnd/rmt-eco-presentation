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92640" y="32004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ДАЛЕЕ  ───►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3172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61C20"/>
                </a:solidFill>
                <a:latin typeface="Calibri"/>
              </a:rPr>
              <a:t>РМТ-МЕД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154680"/>
            <a:ext cx="3520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61C20"/>
                </a:solidFill>
                <a:latin typeface="Calibri"/>
              </a:rPr>
              <a:t>РАЗРАБОТКА И ПОСТАВКА
ВЫСОКОТЕХНОЛОГИЧНОГО
МЕДИЦИНСКОГО ОБОРУДОВАНИЯ
В КОНТУР НПО РМТ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2423160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ЭКОСИСТЕМА ВХОДА
В ЗАКРЫТЫЙ КОНТУР
ЗАКУПОК ЗА 12 ДНЕЙ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D8EEEB"/>
                </a:solidFill>
                <a:latin typeface="Calibri"/>
              </a:rPr>
              <a:t>АППАРАТ  ·  КТРУ И ГОСТ  ·  СТАНДАРТ ОСНАЩЕНИЯ  ·  КЛИНИЧЕСКИЕ РЕКОМЕНДАЦИИ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62362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WWW.RMT-ECO.RU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23620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51560" y="365760"/>
            <a:ext cx="4617720" cy="16459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42432" y="219456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6E64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219456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ДАЛЕЕ  ───►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629107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WWW.RMT-ECO.RU</a:t>
            </a:r>
          </a:p>
        </p:txBody>
      </p:sp>
      <p:pic>
        <p:nvPicPr>
          <p:cNvPr id="7" name="Picture 6" descr="diamond_bu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33272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" y="950976"/>
            <a:ext cx="56692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>
                <a:solidFill>
                  <a:srgbClr val="161C20"/>
                </a:solidFill>
                <a:latin typeface="Calibri"/>
              </a:rPr>
              <a:t>ПОЧЕМУ ЗАЯВКИ ЗАСТРЕВАЮТ
ПЕРЕД КОМИССИЕЙ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057400"/>
            <a:ext cx="5760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80" b="0">
                <a:solidFill>
                  <a:srgbClr val="525C64"/>
                </a:solidFill>
                <a:latin typeface="Calibri"/>
              </a:rPr>
              <a:t>Комиссия НПО РМТ отклоняет до половины первичных заявок не из-за качества самого аппарата, а из-за разрывов между комплектацией, позициями КТРУ и стандартами оснащения кабинетов.</a:t>
            </a:r>
          </a:p>
        </p:txBody>
      </p:sp>
      <p:pic>
        <p:nvPicPr>
          <p:cNvPr id="10" name="Picture 9" descr="ic_ktr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999232"/>
            <a:ext cx="566928" cy="5669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298448" y="3246120"/>
            <a:ext cx="2112263" cy="13716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971800"/>
            <a:ext cx="21122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29E92"/>
                </a:solidFill>
                <a:latin typeface="Calibri"/>
              </a:rPr>
              <a:t>НЕСОВПАДЕНИЕ ПОЗИЦИЙ КТРУ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300984"/>
            <a:ext cx="211226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C64"/>
                </a:solidFill>
                <a:latin typeface="Calibri"/>
              </a:rPr>
              <a:t>Код КТРУ в заявке не бьётся с фактической комплектацией и техпаспортом прибора — возврат на доработку.</a:t>
            </a:r>
          </a:p>
        </p:txBody>
      </p:sp>
      <p:pic>
        <p:nvPicPr>
          <p:cNvPr id="14" name="Picture 13" descr="ic_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2999232"/>
            <a:ext cx="566928" cy="56692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288536" y="3246120"/>
            <a:ext cx="2112263" cy="13716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8536" y="2971800"/>
            <a:ext cx="21122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29E92"/>
                </a:solidFill>
                <a:latin typeface="Calibri"/>
              </a:rPr>
              <a:t>РУЧНАЯ СБОРКА В 3 ВЕДОМСТВАХ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8536" y="3300984"/>
            <a:ext cx="211226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C64"/>
                </a:solidFill>
                <a:latin typeface="Calibri"/>
              </a:rPr>
              <a:t>Шесть разных шаблонов документов согласуются последовательно, съедая недели до выхода на комиссию.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61772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29E92"/>
                </a:solidFill>
                <a:latin typeface="Calibri"/>
              </a:rPr>
              <a:t>40 ДНЕЙ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5193792"/>
            <a:ext cx="2606040" cy="16459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266944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19" b="1">
                <a:solidFill>
                  <a:srgbClr val="525C64"/>
                </a:solidFill>
                <a:latin typeface="Calibri"/>
              </a:rPr>
              <a:t>СРЕДНИЙ СРОК ПОДГОТОВКИ ПАКЕТА
ДОКУМЕНТОВ ПО СТАНДАРТНОМУ ПУТИ
ДО ВЫХОДА НА КОМИССИЮ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61772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29E92"/>
                </a:solidFill>
                <a:latin typeface="Calibri"/>
              </a:rPr>
              <a:t>6 ДОКУМЕНТОВ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1880" y="5193792"/>
            <a:ext cx="2606040" cy="16459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5266944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19" b="1">
                <a:solidFill>
                  <a:srgbClr val="525C64"/>
                </a:solidFill>
                <a:latin typeface="Calibri"/>
              </a:rPr>
              <a:t>В ТРЁХ КОНТУРАХ СОГЛАСОВАНИЯ:
РУ И ПАСПОРТ, КТРУ/ГОСТ, СТАНДАРТ
ОСНАЩЕНИЯ И КЛИНРЕКОМЕНДАЦИИ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51560" y="365760"/>
            <a:ext cx="4251960" cy="16459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76672" y="219456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6E64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219456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ДАЛЕЕ  ───►</a:t>
            </a:r>
          </a:p>
        </p:txBody>
      </p:sp>
      <p:pic>
        <p:nvPicPr>
          <p:cNvPr id="6" name="Picture 5" descr="diamond_bu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978408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9512" y="896112"/>
            <a:ext cx="68580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>
                <a:solidFill>
                  <a:srgbClr val="161C20"/>
                </a:solidFill>
                <a:latin typeface="Calibri"/>
              </a:rPr>
              <a:t>КЛЮЧЕВЫЕ ВОЗМОЖНОСТИ
ЭКОСИСТЕМЫ «РМТ-МЕД»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6592" y="1993392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525C64"/>
                </a:solidFill>
                <a:latin typeface="Calibri"/>
              </a:rPr>
              <a:t>Вместо поставки «аппарата в коробке» формируем единую экосистему из четырёх синхронизированных слоёв — комиссия принимает пакет с первого раза:</a:t>
            </a:r>
          </a:p>
        </p:txBody>
      </p:sp>
      <p:pic>
        <p:nvPicPr>
          <p:cNvPr id="9" name="Picture 8" descr="ic_dev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788920"/>
            <a:ext cx="566928" cy="56692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13248" y="3035808"/>
            <a:ext cx="2569463" cy="13716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13248" y="2761488"/>
            <a:ext cx="25694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29E92"/>
                </a:solidFill>
                <a:latin typeface="Calibri"/>
              </a:rPr>
              <a:t>СЛОЙ 1 · ОБОРУДОВАНИЕ И СЕРВИС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248" y="3090672"/>
            <a:ext cx="256946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C64"/>
                </a:solidFill>
                <a:latin typeface="Calibri"/>
              </a:rPr>
              <a:t>Регистрационное удостоверение, техпаспорт, модульные слоты под задачи отделения и готовый график ТО.</a:t>
            </a:r>
          </a:p>
        </p:txBody>
      </p:sp>
      <p:pic>
        <p:nvPicPr>
          <p:cNvPr id="13" name="Picture 12" descr="ic_ktr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2788920"/>
            <a:ext cx="566928" cy="56692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906256" y="3035808"/>
            <a:ext cx="2569463" cy="13716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06256" y="2761488"/>
            <a:ext cx="25694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29E92"/>
                </a:solidFill>
                <a:latin typeface="Calibri"/>
              </a:rPr>
              <a:t>СЛОЙ 2 · КТРУ И ГОСТ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6256" y="3090672"/>
            <a:ext cx="256946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C64"/>
                </a:solidFill>
                <a:latin typeface="Calibri"/>
              </a:rPr>
              <a:t>Полное соответствие кодам КТРУ по каждой позиции, декларации ГОСТ и сквозная таблица «код ↔ артикул ↔ паспорт».</a:t>
            </a:r>
          </a:p>
        </p:txBody>
      </p:sp>
      <p:pic>
        <p:nvPicPr>
          <p:cNvPr id="17" name="Picture 16" descr="ic_ro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4434840"/>
            <a:ext cx="566928" cy="56692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413248" y="4681727"/>
            <a:ext cx="2569463" cy="13716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3248" y="4407407"/>
            <a:ext cx="25694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29E92"/>
                </a:solidFill>
                <a:latin typeface="Calibri"/>
              </a:rPr>
              <a:t>СЛОЙ 3 · СТАНДАРТЫ ОСНАЩЕНИЯ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4736592"/>
            <a:ext cx="256946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C64"/>
                </a:solidFill>
                <a:latin typeface="Calibri"/>
              </a:rPr>
              <a:t>Готовая layout-схема размещения в кабинете, привязка к приказу оснащения и чек-лист приёмки комиссией.</a:t>
            </a:r>
          </a:p>
        </p:txBody>
      </p:sp>
      <p:pic>
        <p:nvPicPr>
          <p:cNvPr id="21" name="Picture 20" descr="ic_clin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4434840"/>
            <a:ext cx="566928" cy="5669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906256" y="4681727"/>
            <a:ext cx="2569463" cy="13716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06256" y="4407407"/>
            <a:ext cx="25694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29E92"/>
                </a:solidFill>
                <a:latin typeface="Calibri"/>
              </a:rPr>
              <a:t>СЛОЙ 4 · КЛИНИЧЕСКИЕ РЕКОМЕНДАЦИИ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256" y="4736592"/>
            <a:ext cx="256946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C64"/>
                </a:solidFill>
                <a:latin typeface="Calibri"/>
              </a:rPr>
              <a:t>Протоколы клинического применения, 2 сессии обучения врачей и методологическая поддержка на комиссии.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51560" y="365760"/>
            <a:ext cx="4069079" cy="16459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93792" y="219456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6E64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219456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ДАЛЕЕ  ───►</a:t>
            </a:r>
          </a:p>
        </p:txBody>
      </p:sp>
      <p:pic>
        <p:nvPicPr>
          <p:cNvPr id="6" name="Picture 5" descr="diamond_bu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" y="1014983"/>
            <a:ext cx="5120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>
                <a:solidFill>
                  <a:srgbClr val="161C20"/>
                </a:solidFill>
                <a:latin typeface="Calibri"/>
              </a:rPr>
              <a:t>СЛОЙ 1 · ОБОРУДОВАНИЕ
И СЕРВИСНЫЙ КОНТУР</a:t>
            </a:r>
          </a:p>
        </p:txBody>
      </p:sp>
      <p:pic>
        <p:nvPicPr>
          <p:cNvPr id="8" name="Picture 7" descr="diamond_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450591"/>
            <a:ext cx="18288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824" y="2404872"/>
            <a:ext cx="189280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161C20"/>
                </a:solidFill>
                <a:latin typeface="Calibri"/>
              </a:rPr>
              <a:t>Комплект РУ и паспортов</a:t>
            </a:r>
          </a:p>
          <a:p>
            <a:pPr algn="l">
              <a:lnSpc>
                <a:spcPct val="112000"/>
              </a:lnSpc>
            </a:pPr>
            <a:r>
              <a:rPr sz="1019" b="0">
                <a:solidFill>
                  <a:srgbClr val="525C64"/>
                </a:solidFill>
                <a:latin typeface="Calibri"/>
              </a:rPr>
              <a:t>Регистрационное удостоверение и техпаспорт сверены с номенклатурой.</a:t>
            </a:r>
          </a:p>
        </p:txBody>
      </p:sp>
      <p:pic>
        <p:nvPicPr>
          <p:cNvPr id="10" name="Picture 9" descr="diamond_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2450591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36391" y="2404872"/>
            <a:ext cx="184708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161C20"/>
                </a:solidFill>
                <a:latin typeface="Calibri"/>
              </a:rPr>
              <a:t>Модульная архитектура</a:t>
            </a:r>
          </a:p>
          <a:p>
            <a:pPr algn="l">
              <a:lnSpc>
                <a:spcPct val="112000"/>
              </a:lnSpc>
            </a:pPr>
            <a:r>
              <a:rPr sz="1019" b="0">
                <a:solidFill>
                  <a:srgbClr val="525C64"/>
                </a:solidFill>
                <a:latin typeface="Calibri"/>
              </a:rPr>
              <a:t>Слот-модули подбираются под профиль отделения без смены кода.</a:t>
            </a:r>
          </a:p>
        </p:txBody>
      </p:sp>
      <p:pic>
        <p:nvPicPr>
          <p:cNvPr id="12" name="Picture 11" descr="diamond_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639312"/>
            <a:ext cx="182880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824" y="3593592"/>
            <a:ext cx="189280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161C20"/>
                </a:solidFill>
                <a:latin typeface="Calibri"/>
              </a:rPr>
              <a:t>Закрытый сервисный контур</a:t>
            </a:r>
          </a:p>
          <a:p>
            <a:pPr algn="l">
              <a:lnSpc>
                <a:spcPct val="112000"/>
              </a:lnSpc>
            </a:pPr>
            <a:r>
              <a:rPr sz="1019" b="0">
                <a:solidFill>
                  <a:srgbClr val="525C64"/>
                </a:solidFill>
                <a:latin typeface="Calibri"/>
              </a:rPr>
              <a:t>Регламент ТО и зоны ответственности фиксируются до приёмки.</a:t>
            </a:r>
          </a:p>
        </p:txBody>
      </p:sp>
      <p:pic>
        <p:nvPicPr>
          <p:cNvPr id="14" name="Picture 13" descr="diamond_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3639312"/>
            <a:ext cx="182880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36391" y="3593592"/>
            <a:ext cx="184708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161C20"/>
                </a:solidFill>
                <a:latin typeface="Calibri"/>
              </a:rPr>
              <a:t>Складской резерв ЗИП</a:t>
            </a:r>
          </a:p>
          <a:p>
            <a:pPr algn="l">
              <a:lnSpc>
                <a:spcPct val="112000"/>
              </a:lnSpc>
            </a:pPr>
            <a:r>
              <a:rPr sz="1019" b="0">
                <a:solidFill>
                  <a:srgbClr val="525C64"/>
                </a:solidFill>
                <a:latin typeface="Calibri"/>
              </a:rPr>
              <a:t>Подменный фонд узлов и датчиков исключает простой кабинета.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074920"/>
            <a:ext cx="4297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19" b="1">
                <a:solidFill>
                  <a:srgbClr val="161C20"/>
                </a:solidFill>
                <a:latin typeface="Calibri"/>
              </a:rPr>
              <a:t>ТЕХНИЧЕСКОЕ СОПРОВОЖДЕНИЕ ВЫПОЛНЯЕТ ЛИЦЕНЗИРОВАННАЯ СЕРВИСНАЯ СЛУЖБА С АТТЕСТОВАННЫМИ ИНЖЕНЕРАМИ И ДОПУСКАМИ ПРОИЗВОДИТЕЛЯ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435607"/>
            <a:ext cx="502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1508760"/>
            <a:ext cx="28803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МОНТАЖ И ВВОД В ЭКСПЛУАТАЦИЮ</a:t>
            </a:r>
          </a:p>
          <a:p>
            <a:pPr algn="l">
              <a:lnSpc>
                <a:spcPct val="112000"/>
              </a:lnSpc>
            </a:pPr>
            <a:r>
              <a:rPr sz="980" b="0">
                <a:solidFill>
                  <a:srgbClr val="D8EEEB"/>
                </a:solidFill>
                <a:latin typeface="Calibri"/>
              </a:rPr>
              <a:t>Установка комплекса в отделении, проверка контуров безопасности и подписание акта пуска.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008376"/>
            <a:ext cx="502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3081528"/>
            <a:ext cx="28803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ТЕХНИЧЕСКАЯ ДИАГНОСТИКА</a:t>
            </a:r>
          </a:p>
          <a:p>
            <a:pPr algn="l">
              <a:lnSpc>
                <a:spcPct val="112000"/>
              </a:lnSpc>
            </a:pPr>
            <a:r>
              <a:rPr sz="980" b="0">
                <a:solidFill>
                  <a:srgbClr val="D8EEEB"/>
                </a:solidFill>
                <a:latin typeface="Calibri"/>
              </a:rPr>
              <a:t>Плановый контроль параметров, метрологическая поверка и превентивная замена расходников.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581144"/>
            <a:ext cx="502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4654296"/>
            <a:ext cx="28803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МОДЕРНИЗАЦИЯ И ОБНОВЛЕНИЕ ПО</a:t>
            </a:r>
          </a:p>
          <a:p>
            <a:pPr algn="l">
              <a:lnSpc>
                <a:spcPct val="112000"/>
              </a:lnSpc>
            </a:pPr>
            <a:r>
              <a:rPr sz="980" b="0">
                <a:solidFill>
                  <a:srgbClr val="D8EEEB"/>
                </a:solidFill>
                <a:latin typeface="Calibri"/>
              </a:rPr>
              <a:t>Расширение диагностических модулей и обновление прошивок в рамках жизненного цикла.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51560" y="365760"/>
            <a:ext cx="4617720" cy="16459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42432" y="219456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6E64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219456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ДАЛЕЕ  ───►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629107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WWW.RMT-ECO.RU</a:t>
            </a:r>
          </a:p>
        </p:txBody>
      </p:sp>
      <p:pic>
        <p:nvPicPr>
          <p:cNvPr id="7" name="Picture 6" descr="diamond_bu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33272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" y="950976"/>
            <a:ext cx="5760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>
                <a:solidFill>
                  <a:srgbClr val="161C20"/>
                </a:solidFill>
                <a:latin typeface="Calibri"/>
              </a:rPr>
              <a:t>СЛОЙ 2 · СШИВКА КТРУ, ГОСТ
И ТЕХНИЧЕСКОГО ЗАДАНИЯ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029968"/>
            <a:ext cx="5669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525C64"/>
                </a:solidFill>
                <a:latin typeface="Calibri"/>
              </a:rPr>
              <a:t>Каждая позиция поставки заранее привязана к коду КТРУ, национальному стандарту ГОСТ и строкам электронного магазина — у комиссии не возникает формальных оснований для возврата:</a:t>
            </a:r>
          </a:p>
        </p:txBody>
      </p:sp>
      <p:pic>
        <p:nvPicPr>
          <p:cNvPr id="10" name="Picture 9" descr="ic_ktr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852928"/>
            <a:ext cx="566928" cy="5669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298448" y="3099816"/>
            <a:ext cx="2112263" cy="13716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825496"/>
            <a:ext cx="21122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29E92"/>
                </a:solidFill>
                <a:latin typeface="Calibri"/>
              </a:rPr>
              <a:t>ТАБЛИЦА СООТВЕТСТВИЯ КТРУ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154680"/>
            <a:ext cx="211226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C64"/>
                </a:solidFill>
                <a:latin typeface="Calibri"/>
              </a:rPr>
              <a:t>Построчная сшивка «код КТРУ ↔ артикул производителя ↔ страница техпаспорта».</a:t>
            </a:r>
          </a:p>
        </p:txBody>
      </p:sp>
      <p:pic>
        <p:nvPicPr>
          <p:cNvPr id="14" name="Picture 13" descr="ic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2852928"/>
            <a:ext cx="566928" cy="56692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288536" y="3099816"/>
            <a:ext cx="2112263" cy="13716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8536" y="2825496"/>
            <a:ext cx="21122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29E92"/>
                </a:solidFill>
                <a:latin typeface="Calibri"/>
              </a:rPr>
              <a:t>ДЕКЛАРАЦИИ И ГОСТ В ПАКЕТЕ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8536" y="3154680"/>
            <a:ext cx="211226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C64"/>
                </a:solidFill>
                <a:latin typeface="Calibri"/>
              </a:rPr>
              <a:t>Все сертификаты, РУ и протоколы испытаний сложены по чек-листу закупочной комиссии.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553712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9E92"/>
                </a:solidFill>
                <a:latin typeface="Calibri"/>
              </a:rPr>
              <a:t>100% ПОЗИЦИЙ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5102352"/>
            <a:ext cx="2606040" cy="16459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175504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19" b="1">
                <a:solidFill>
                  <a:srgbClr val="525C64"/>
                </a:solidFill>
                <a:latin typeface="Calibri"/>
              </a:rPr>
              <a:t>ПРОХОДЯТ ПРЕДВАРИТЕЛЬНУЮ ВЫВЕРКУ
КОДОВ КТРУ И ХАРАКТЕРИСТИК
ДО ПОДАЧИ ДОКУМЕНТОВ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553712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9E92"/>
                </a:solidFill>
                <a:latin typeface="Calibri"/>
              </a:rPr>
              <a:t>0 ВОЗВРАТОВ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1880" y="5102352"/>
            <a:ext cx="2606040" cy="16459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5175504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19" b="1">
                <a:solidFill>
                  <a:srgbClr val="525C64"/>
                </a:solidFill>
                <a:latin typeface="Calibri"/>
              </a:rPr>
              <a:t>ПО ФОРМАЛЬНЫМ ПРИЧИНАМ
РАСХОЖДЕНИЯ КОМПЛЕКТАЦИИ
С ТЕХНИЧЕСКИМ ПАСПОРТОМ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51560" y="365760"/>
            <a:ext cx="4251960" cy="16459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76672" y="219456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6E64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219456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229E92"/>
                </a:solidFill>
                <a:latin typeface="Calibri"/>
              </a:rPr>
              <a:t>ДАЛЕЕ  ───►</a:t>
            </a:r>
          </a:p>
        </p:txBody>
      </p:sp>
      <p:pic>
        <p:nvPicPr>
          <p:cNvPr id="6" name="Picture 5" descr="diamond_bu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33272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" y="950976"/>
            <a:ext cx="5029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>
                <a:solidFill>
                  <a:srgbClr val="161C20"/>
                </a:solidFill>
                <a:latin typeface="Calibri"/>
              </a:rPr>
              <a:t>СЛОЙ 3 · СТАНДАРТЫ ОСНАЩЕНИЯ
КАБИНЕТОВ «ПОД КЛЮЧ»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57400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25C64"/>
                </a:solidFill>
                <a:latin typeface="Calibri"/>
              </a:rPr>
              <a:t>Приводим комплектацию в точное соответствие с приказами Минздрава по стандартам оснащения профильных отделений и готовим схему размещения до выезда комиссии:</a:t>
            </a:r>
          </a:p>
        </p:txBody>
      </p:sp>
      <p:pic>
        <p:nvPicPr>
          <p:cNvPr id="9" name="Picture 8" descr="diamond_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999232"/>
            <a:ext cx="182880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" y="2953512"/>
            <a:ext cx="42245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161C20"/>
                </a:solidFill>
                <a:latin typeface="Calibri"/>
              </a:rPr>
              <a:t>Layout-схема кабинета с привязкой к инженерным сетям</a:t>
            </a:r>
          </a:p>
          <a:p>
            <a:pPr algn="l">
              <a:lnSpc>
                <a:spcPct val="112000"/>
              </a:lnSpc>
            </a:pPr>
            <a:r>
              <a:rPr sz="1019" b="0">
                <a:solidFill>
                  <a:srgbClr val="525C64"/>
                </a:solidFill>
                <a:latin typeface="Calibri"/>
              </a:rPr>
              <a:t>План расстановки аппаратов, консолей и рабочих мест с соблюдением санитарных норм.</a:t>
            </a:r>
          </a:p>
        </p:txBody>
      </p:sp>
      <p:pic>
        <p:nvPicPr>
          <p:cNvPr id="11" name="Picture 10" descr="diamond_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822192"/>
            <a:ext cx="182880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776472"/>
            <a:ext cx="42245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161C20"/>
                </a:solidFill>
                <a:latin typeface="Calibri"/>
              </a:rPr>
              <a:t>Чек-лист отделенческой приёмочной комиссии</a:t>
            </a:r>
          </a:p>
          <a:p>
            <a:pPr algn="l">
              <a:lnSpc>
                <a:spcPct val="112000"/>
              </a:lnSpc>
            </a:pPr>
            <a:r>
              <a:rPr sz="1019" b="0">
                <a:solidFill>
                  <a:srgbClr val="525C64"/>
                </a:solidFill>
                <a:latin typeface="Calibri"/>
              </a:rPr>
              <a:t>Готовый протокол осмотра кабинета с маркировкой каждой единицы оборудования.</a:t>
            </a:r>
          </a:p>
        </p:txBody>
      </p:sp>
      <p:pic>
        <p:nvPicPr>
          <p:cNvPr id="13" name="Picture 12" descr="diamond_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645152"/>
            <a:ext cx="182880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7824" y="4599432"/>
            <a:ext cx="42245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161C20"/>
                </a:solidFill>
                <a:latin typeface="Calibri"/>
              </a:rPr>
              <a:t>Фото- и видеоотчёт готовности площадки</a:t>
            </a:r>
          </a:p>
          <a:p>
            <a:pPr algn="l">
              <a:lnSpc>
                <a:spcPct val="112000"/>
              </a:lnSpc>
            </a:pPr>
            <a:r>
              <a:rPr sz="1019" b="0">
                <a:solidFill>
                  <a:srgbClr val="525C64"/>
                </a:solidFill>
                <a:latin typeface="Calibri"/>
              </a:rPr>
              <a:t>Фиксация соответствия помещения стандарту оснащения для закрытого контура РМТ.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331720"/>
            <a:ext cx="2121408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229E92"/>
                </a:solidFill>
                <a:latin typeface="Calibri"/>
              </a:rPr>
              <a:t>ЗА 1 ДЕНЬ</a:t>
            </a:r>
          </a:p>
          <a:p>
            <a:pPr algn="ctr">
              <a:lnSpc>
                <a:spcPct val="112000"/>
              </a:lnSpc>
            </a:pPr>
            <a:r>
              <a:rPr sz="880" b="1">
                <a:solidFill>
                  <a:srgbClr val="161C20"/>
                </a:solidFill>
                <a:latin typeface="Calibri"/>
              </a:rPr>
              <a:t>ФОРМИРУЕМ ПОЛНУЮ
СХЕМУ ОСНАЩЕНИЯ
ПОД СТАНДАРТ
ОТДЕЛЕНИЯ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2606040"/>
            <a:ext cx="20574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  <a:latin typeface="Calibri"/>
              </a:rPr>
              <a:t>100%
СООТВЕТСТВИЕ
ПРИКАЗАМ МЗ РФ
И НОРМАМ САНПИН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51560" y="365760"/>
            <a:ext cx="4617720" cy="16459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42432" y="219456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6E64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219456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229E92"/>
                </a:solidFill>
                <a:latin typeface="Calibri"/>
              </a:rPr>
              <a:t>ДАЛЕЕ  ───►</a:t>
            </a:r>
          </a:p>
        </p:txBody>
      </p:sp>
      <p:pic>
        <p:nvPicPr>
          <p:cNvPr id="6" name="Picture 5" descr="diamond_bu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00584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5352" y="923544"/>
            <a:ext cx="5943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>
                <a:solidFill>
                  <a:srgbClr val="161C20"/>
                </a:solidFill>
                <a:latin typeface="Calibri"/>
              </a:rPr>
              <a:t>СЛОЙ 4 · КЛИНИЧЕСКИЕ
РЕКОМЕНДАЦИИ И ОБУЧЕНИЕ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42432" y="2011680"/>
            <a:ext cx="5852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525C64"/>
                </a:solidFill>
                <a:latin typeface="Calibri"/>
              </a:rPr>
              <a:t>Главный врач и комиссия получают не просто прибор, а готовый клинический протокол его применения в отделении и обученную команду специалистов:</a:t>
            </a:r>
          </a:p>
        </p:txBody>
      </p:sp>
      <p:pic>
        <p:nvPicPr>
          <p:cNvPr id="9" name="Picture 8" descr="ic_clin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2834640"/>
            <a:ext cx="566928" cy="56692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19088" y="3081528"/>
            <a:ext cx="2203704" cy="13716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807208"/>
            <a:ext cx="22037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29E92"/>
                </a:solidFill>
                <a:latin typeface="Calibri"/>
              </a:rPr>
              <a:t>КАРТА КЛИНИЧЕСКОГО ПРИМЕНЕНИЯ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136392"/>
            <a:ext cx="220370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C64"/>
                </a:solidFill>
                <a:latin typeface="Calibri"/>
              </a:rPr>
              <a:t>Привязка режимов работы аппарата к актуальным клиническим рекомендациям Минздрава.</a:t>
            </a:r>
          </a:p>
        </p:txBody>
      </p:sp>
      <p:pic>
        <p:nvPicPr>
          <p:cNvPr id="13" name="Picture 12" descr="ic_dev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2834640"/>
            <a:ext cx="566928" cy="56692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500616" y="3081528"/>
            <a:ext cx="2203704" cy="13716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0616" y="2807208"/>
            <a:ext cx="22037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29E92"/>
                </a:solidFill>
                <a:latin typeface="Calibri"/>
              </a:rPr>
              <a:t>ОБУЧЕНИЕ ВРАЧЕЙ (2 СЕССИИ)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0616" y="3136392"/>
            <a:ext cx="220370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C64"/>
                </a:solidFill>
                <a:latin typeface="Calibri"/>
              </a:rPr>
              <a:t>Очный и дистанционный практикум для врачей и медсестёр с выдачей именных сертификатов.</a:t>
            </a:r>
          </a:p>
        </p:txBody>
      </p:sp>
      <p:pic>
        <p:nvPicPr>
          <p:cNvPr id="17" name="Picture 16" descr="ic_ktr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2432" y="4434840"/>
            <a:ext cx="566928" cy="56692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419088" y="4681727"/>
            <a:ext cx="2203704" cy="13716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4407407"/>
            <a:ext cx="22037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29E92"/>
                </a:solidFill>
                <a:latin typeface="Calibri"/>
              </a:rPr>
              <a:t>ШАБЛОН ПРОТОКОЛА ОТДЕЛЕНИЯ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736592"/>
            <a:ext cx="220370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C64"/>
                </a:solidFill>
                <a:latin typeface="Calibri"/>
              </a:rPr>
              <a:t>Готовые СОПы и алгоритмы интерпретации показателей для быстрого запуска в работу.</a:t>
            </a:r>
          </a:p>
        </p:txBody>
      </p:sp>
      <p:pic>
        <p:nvPicPr>
          <p:cNvPr id="21" name="Picture 20" descr="ic_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3960" y="4434840"/>
            <a:ext cx="566928" cy="5669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9500616" y="4681727"/>
            <a:ext cx="2203704" cy="13716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0616" y="4407407"/>
            <a:ext cx="22037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29E92"/>
                </a:solidFill>
                <a:latin typeface="Calibri"/>
              </a:rPr>
              <a:t>ЭКСПЕРТ НА ЗАЩИТЕ В КОМИССИИ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6" y="4736592"/>
            <a:ext cx="220370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C64"/>
                </a:solidFill>
                <a:latin typeface="Calibri"/>
              </a:rPr>
              <a:t>Наш медицинский директор участвует в заседании комиссии и снимает клинические вопросы.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51560" y="365760"/>
            <a:ext cx="4617720" cy="16459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42432" y="219456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6E64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219456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ДАЛЕЕ  ───►</a:t>
            </a:r>
          </a:p>
        </p:txBody>
      </p:sp>
      <p:pic>
        <p:nvPicPr>
          <p:cNvPr id="6" name="Picture 5" descr="diamond_bu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33272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" y="950976"/>
            <a:ext cx="68580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>
                <a:solidFill>
                  <a:srgbClr val="161C20"/>
                </a:solidFill>
                <a:latin typeface="Calibri"/>
              </a:rPr>
              <a:t>КАК ПРОХОДИТ КОМИССИЯ:
40 ДНЕЙ → 12 ДНЕЙ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11680"/>
            <a:ext cx="3840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E8A92"/>
                </a:solidFill>
                <a:latin typeface="Calibri"/>
              </a:rPr>
              <a:t>40 ДНЕЙ — СТАНДАРТНЫЙ ПУТЬ</a:t>
            </a:r>
          </a:p>
          <a:p>
            <a:pPr algn="l">
              <a:lnSpc>
                <a:spcPct val="114000"/>
              </a:lnSpc>
            </a:pPr>
            <a:r>
              <a:rPr sz="1019" b="0">
                <a:solidFill>
                  <a:srgbClr val="525C64"/>
                </a:solidFill>
                <a:latin typeface="Calibri"/>
              </a:rPr>
              <a:t>Разрозненная сборка РУ, КТРУ, стандартов оснащения и писем поддержки приводит к возвратам и потере окна закупки.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011680"/>
            <a:ext cx="4023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29E92"/>
                </a:solidFill>
                <a:latin typeface="Calibri"/>
              </a:rPr>
              <a:t>12 ДНЕЙ — В КОНТУРЕ ЭКОСИСТЕМЫ</a:t>
            </a:r>
          </a:p>
          <a:p>
            <a:pPr algn="l">
              <a:lnSpc>
                <a:spcPct val="114000"/>
              </a:lnSpc>
            </a:pPr>
            <a:r>
              <a:rPr sz="1019" b="0">
                <a:solidFill>
                  <a:srgbClr val="161C20"/>
                </a:solidFill>
                <a:latin typeface="Calibri"/>
              </a:rPr>
              <a:t>Все 4 слоя сшиты заранее: проверка комплектности и внутренняя приёмка проходят до заседания комиссии НПО РМТ.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3400" b="1">
                <a:solidFill>
                  <a:srgbClr val="116E64"/>
                </a:solidFill>
                <a:latin typeface="Calibri"/>
              </a:rPr>
              <a:t>×3.3</a:t>
            </a:r>
          </a:p>
          <a:p>
            <a:pPr algn="l">
              <a:lnSpc>
                <a:spcPct val="112000"/>
              </a:lnSpc>
            </a:pPr>
            <a:r>
              <a:rPr sz="950" b="1">
                <a:solidFill>
                  <a:srgbClr val="229E92"/>
                </a:solidFill>
                <a:latin typeface="Calibri"/>
              </a:rPr>
              <a:t>СОКРАЩЕНИЕ СРОКА
ВХОДА В ЗАКУПКУ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4580" y="3822191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Д0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059" y="480060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80" b="1">
                <a:solidFill>
                  <a:srgbClr val="161C20"/>
                </a:solidFill>
                <a:latin typeface="Calibri"/>
              </a:rPr>
              <a:t>СТОП-ЛИСТ И АУДИТ</a:t>
            </a:r>
          </a:p>
          <a:p>
            <a:pPr algn="ctr">
              <a:lnSpc>
                <a:spcPct val="112000"/>
              </a:lnSpc>
            </a:pPr>
            <a:r>
              <a:rPr sz="960" b="0">
                <a:solidFill>
                  <a:srgbClr val="525C64"/>
                </a:solidFill>
                <a:latin typeface="Calibri"/>
              </a:rPr>
              <a:t>Сверка текущей комплектации аппарата с кодами КТРУ и приказом оснащения.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8580" y="3822191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Д3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7060" y="480060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80" b="1">
                <a:solidFill>
                  <a:srgbClr val="161C20"/>
                </a:solidFill>
                <a:latin typeface="Calibri"/>
              </a:rPr>
              <a:t>СБОРКА ПАКЕТА 4 СЛОЁВ</a:t>
            </a:r>
          </a:p>
          <a:p>
            <a:pPr algn="ctr">
              <a:lnSpc>
                <a:spcPct val="112000"/>
              </a:lnSpc>
            </a:pPr>
            <a:r>
              <a:rPr sz="960" b="0">
                <a:solidFill>
                  <a:srgbClr val="525C64"/>
                </a:solidFill>
                <a:latin typeface="Calibri"/>
              </a:rPr>
              <a:t>Готова таблица «код ↔ артикул ↔ паспорт», декларации ГОСТ и layout кабинета.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2580" y="3822191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Д5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1060" y="480060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80" b="1">
                <a:solidFill>
                  <a:srgbClr val="161C20"/>
                </a:solidFill>
                <a:latin typeface="Calibri"/>
              </a:rPr>
              <a:t>ВНУТРЕННЯЯ ПРИЁМКА</a:t>
            </a:r>
          </a:p>
          <a:p>
            <a:pPr algn="ctr">
              <a:lnSpc>
                <a:spcPct val="112000"/>
              </a:lnSpc>
            </a:pPr>
            <a:r>
              <a:rPr sz="960" b="0">
                <a:solidFill>
                  <a:srgbClr val="525C64"/>
                </a:solidFill>
                <a:latin typeface="Calibri"/>
              </a:rPr>
              <a:t>Предварительный прогон пакета по чек-листу комиссии и обучение персонала.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6580" y="3822191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Д12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5060" y="480060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80" b="1">
                <a:solidFill>
                  <a:srgbClr val="161C20"/>
                </a:solidFill>
                <a:latin typeface="Calibri"/>
              </a:rPr>
              <a:t>КОМИССИЯ → ВХОД В КОНТУР</a:t>
            </a:r>
          </a:p>
          <a:p>
            <a:pPr algn="ctr">
              <a:lnSpc>
                <a:spcPct val="112000"/>
              </a:lnSpc>
            </a:pPr>
            <a:r>
              <a:rPr sz="960" b="0">
                <a:solidFill>
                  <a:srgbClr val="525C64"/>
                </a:solidFill>
                <a:latin typeface="Calibri"/>
              </a:rPr>
              <a:t>Защита пакета с участием меддиректора и включение в контур закупок РМТ.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51560" y="365760"/>
            <a:ext cx="4617720" cy="16459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42432" y="219456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6E64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219456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ДАЛЕЕ  ───►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629107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WWW.RMT-ECO.RU</a:t>
            </a:r>
          </a:p>
        </p:txBody>
      </p:sp>
      <p:pic>
        <p:nvPicPr>
          <p:cNvPr id="7" name="Picture 6" descr="diamond_bu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33272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" y="950976"/>
            <a:ext cx="5760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>
                <a:solidFill>
                  <a:srgbClr val="161C20"/>
                </a:solidFill>
                <a:latin typeface="Calibri"/>
              </a:rPr>
              <a:t>РЕЗУЛЬТАТЫ ВНЕДРЕНИЯ
ЭКОСИСТЕМНОГО ПОДХОДА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011680"/>
            <a:ext cx="5669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525C64"/>
                </a:solidFill>
                <a:latin typeface="Calibri"/>
              </a:rPr>
              <a:t>Переход от разрозненных документов к единому нормативно-клиническому пакету даёт измеримый результат уже на первой поставке: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97480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229E92"/>
                </a:solidFill>
                <a:latin typeface="Calibri"/>
              </a:rPr>
              <a:t>3 ФИЛИАЛА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172968"/>
            <a:ext cx="2103120" cy="16459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2715768"/>
            <a:ext cx="3520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80" b="1">
                <a:solidFill>
                  <a:srgbClr val="161C20"/>
                </a:solidFill>
                <a:latin typeface="Calibri"/>
              </a:rPr>
              <a:t>ПРИВЕДЕНЫ К ЕДИНОМУ СТАНДАРТУ ОСНАЩЕНИЯ ЗА 6 НЕДЕЛЬ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525C64"/>
                </a:solidFill>
                <a:latin typeface="Calibri"/>
              </a:rPr>
              <a:t>Синхронизированы комплектации кабинетов, паспорта и планы размещения оборудования.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840480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229E92"/>
                </a:solidFill>
                <a:latin typeface="Calibri"/>
              </a:rPr>
              <a:t>28 ПОЗИЦИЙ КТРУ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4315968"/>
            <a:ext cx="2103120" cy="16459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368" y="3858768"/>
            <a:ext cx="3520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80" b="1">
                <a:solidFill>
                  <a:srgbClr val="161C20"/>
                </a:solidFill>
                <a:latin typeface="Calibri"/>
              </a:rPr>
              <a:t>СВЕДЕНЫ В 4 ТИПОВЫХ ШАБЛОНА КОМПЛЕКТАЦИИ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525C64"/>
                </a:solidFill>
                <a:latin typeface="Calibri"/>
              </a:rPr>
              <a:t>Устранены разночтения между артикулами производителя и описанием объекта закупки.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983480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229E92"/>
                </a:solidFill>
                <a:latin typeface="Calibri"/>
              </a:rPr>
              <a:t>0 ОТКЛОНЕНИЙ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5458968"/>
            <a:ext cx="2103120" cy="16459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4368" y="5001768"/>
            <a:ext cx="3520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80" b="1">
                <a:solidFill>
                  <a:srgbClr val="161C20"/>
                </a:solidFill>
                <a:latin typeface="Calibri"/>
              </a:rPr>
              <a:t>ПО ФОРМАЛЬНЫМ ПРОВЕРКАМ КОМИССИИ ЗА ГОД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525C64"/>
                </a:solidFill>
                <a:latin typeface="Calibri"/>
              </a:rPr>
              <a:t>Все пакеты прошли первичный фильтр без возврата на доработку документации.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19963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E8A92"/>
                </a:solidFill>
                <a:latin typeface="Calibri"/>
              </a:rPr>
              <a:t>* Демо-показатели для портфолио; в рабочей версии подставляются фактические цифры заказчика.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51560" y="365760"/>
            <a:ext cx="4069079" cy="16459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93792" y="219456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6E64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219456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ДАЛЕЕ  ───►</a:t>
            </a:r>
          </a:p>
        </p:txBody>
      </p:sp>
      <p:pic>
        <p:nvPicPr>
          <p:cNvPr id="6" name="Picture 5" descr="diamond_bu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" y="1014983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>
                <a:solidFill>
                  <a:srgbClr val="161C20"/>
                </a:solidFill>
                <a:latin typeface="Calibri"/>
              </a:rPr>
              <a:t>РИСКИ ЗАКУПЩИКА
И КАК МЫ ИХ СНИМАЕМ</a:t>
            </a:r>
          </a:p>
        </p:txBody>
      </p:sp>
      <p:pic>
        <p:nvPicPr>
          <p:cNvPr id="8" name="Picture 7" descr="diamond_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359151"/>
            <a:ext cx="18288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824" y="2313432"/>
            <a:ext cx="349300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161C20"/>
                </a:solidFill>
                <a:latin typeface="Calibri"/>
              </a:rPr>
              <a:t>Риск возврата по формальному признаку</a:t>
            </a:r>
          </a:p>
          <a:p>
            <a:pPr algn="l">
              <a:lnSpc>
                <a:spcPct val="112000"/>
              </a:lnSpc>
            </a:pPr>
            <a:r>
              <a:rPr sz="1019" b="0">
                <a:solidFill>
                  <a:srgbClr val="525C64"/>
                </a:solidFill>
                <a:latin typeface="Calibri"/>
              </a:rPr>
              <a:t>Несовпадение одной цифры в паспорте и КТРУ блокирует всю поставку.</a:t>
            </a:r>
          </a:p>
        </p:txBody>
      </p:sp>
      <p:pic>
        <p:nvPicPr>
          <p:cNvPr id="10" name="Picture 9" descr="diamond_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364991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7824" y="3319272"/>
            <a:ext cx="349300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161C20"/>
                </a:solidFill>
                <a:latin typeface="Calibri"/>
              </a:rPr>
              <a:t>Риск обновления приказов Минздрава</a:t>
            </a:r>
          </a:p>
          <a:p>
            <a:pPr algn="l">
              <a:lnSpc>
                <a:spcPct val="112000"/>
              </a:lnSpc>
            </a:pPr>
            <a:r>
              <a:rPr sz="1019" b="0">
                <a:solidFill>
                  <a:srgbClr val="525C64"/>
                </a:solidFill>
                <a:latin typeface="Calibri"/>
              </a:rPr>
              <a:t>Изменение стандарта оснащения во время согласования требует пересборки.</a:t>
            </a:r>
          </a:p>
        </p:txBody>
      </p:sp>
      <p:pic>
        <p:nvPicPr>
          <p:cNvPr id="12" name="Picture 11" descr="diamond_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370832"/>
            <a:ext cx="182880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824" y="4325112"/>
            <a:ext cx="349300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161C20"/>
                </a:solidFill>
                <a:latin typeface="Calibri"/>
              </a:rPr>
              <a:t>Риск затяжной приёмки на площадке</a:t>
            </a:r>
          </a:p>
          <a:p>
            <a:pPr algn="l">
              <a:lnSpc>
                <a:spcPct val="112000"/>
              </a:lnSpc>
            </a:pPr>
            <a:r>
              <a:rPr sz="1019" b="0">
                <a:solidFill>
                  <a:srgbClr val="525C64"/>
                </a:solidFill>
                <a:latin typeface="Calibri"/>
              </a:rPr>
              <a:t>Отсутствие актов готовности помещения тормозит ввод аппарата в работу.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376672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>
                <a:solidFill>
                  <a:srgbClr val="161C20"/>
                </a:solidFill>
                <a:latin typeface="Calibri"/>
              </a:rPr>
              <a:t>ВСЕ ГАРАНТИЙНЫЕ ОБЯЗАТЕЛЬСТВА ПО ДОРАБОТКЕ НОРМАТИВНОГО ПАКЕТА ФИКСИРУЮТСЯ В ДОГОВОРЕ ДО СТАРТА ПОСТАВКИ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435607"/>
            <a:ext cx="502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1508760"/>
            <a:ext cx="33375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ДОРАБОТКА ПАКЕТА ЗА НАШ СЧЁТ</a:t>
            </a:r>
          </a:p>
          <a:p>
            <a:pPr algn="l">
              <a:lnSpc>
                <a:spcPct val="112000"/>
              </a:lnSpc>
            </a:pPr>
            <a:r>
              <a:rPr sz="980" b="0">
                <a:solidFill>
                  <a:srgbClr val="D8EEEB"/>
                </a:solidFill>
                <a:latin typeface="Calibri"/>
              </a:rPr>
              <a:t>Если комиссия вернула заявку по формальной причине — пересобираем документацию за 48 часов без доплаты.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08376"/>
            <a:ext cx="502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3081528"/>
            <a:ext cx="33375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АКТУАЛИЗАЦИЯ ПОД НОВЫЕ КТРУ</a:t>
            </a:r>
          </a:p>
          <a:p>
            <a:pPr algn="l">
              <a:lnSpc>
                <a:spcPct val="112000"/>
              </a:lnSpc>
            </a:pPr>
            <a:r>
              <a:rPr sz="980" b="0">
                <a:solidFill>
                  <a:srgbClr val="D8EEEB"/>
                </a:solidFill>
                <a:latin typeface="Calibri"/>
              </a:rPr>
              <a:t>При обновлении приказа или позиций каталога выпускаем ревизию пакета за 3 рабочих дня.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581144"/>
            <a:ext cx="502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4654296"/>
            <a:ext cx="33375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ФОТО- И ВИДЕОФИКСАЦИЯ ПРИЁМКИ</a:t>
            </a:r>
          </a:p>
          <a:p>
            <a:pPr algn="l">
              <a:lnSpc>
                <a:spcPct val="112000"/>
              </a:lnSpc>
            </a:pPr>
            <a:r>
              <a:rPr sz="980" b="0">
                <a:solidFill>
                  <a:srgbClr val="D8EEEB"/>
                </a:solidFill>
                <a:latin typeface="Calibri"/>
              </a:rPr>
              <a:t>Каждый этап монтажа и обучения врачей документируется по чек-листу отделенческой комиссии.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51560" y="365760"/>
            <a:ext cx="4617720" cy="16459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42432" y="219456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6E64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219456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ДАЛЕЕ  ───►</a:t>
            </a:r>
          </a:p>
        </p:txBody>
      </p:sp>
      <p:pic>
        <p:nvPicPr>
          <p:cNvPr id="6" name="Picture 5" descr="diamond_bu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33272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" y="950976"/>
            <a:ext cx="68580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>
                <a:solidFill>
                  <a:srgbClr val="161C20"/>
                </a:solidFill>
                <a:latin typeface="Calibri"/>
              </a:rPr>
              <a:t>КАК НАЧИНАЕМ РАБОТУ:
ПИЛОТНЫЙ ЗАПУСК В 3 ШАГА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579" y="1911095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291" y="2788920"/>
            <a:ext cx="3328416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9E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171" y="2944368"/>
            <a:ext cx="2962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29E92"/>
                </a:solidFill>
                <a:latin typeface="Calibri"/>
              </a:rPr>
              <a:t>СРОК ЭТАПА: 1 ДЕНЬ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5219" y="3291840"/>
            <a:ext cx="2194560" cy="13716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1171" y="3401568"/>
            <a:ext cx="296265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61C20"/>
                </a:solidFill>
                <a:latin typeface="Calibri"/>
              </a:rPr>
              <a:t>ЭКСПРЕСС-АУДИТ ПАКЕТА</a:t>
            </a:r>
          </a:p>
          <a:p>
            <a:pPr algn="ctr">
              <a:lnSpc>
                <a:spcPct val="115000"/>
              </a:lnSpc>
            </a:pPr>
            <a:r>
              <a:rPr sz="1019" b="0">
                <a:solidFill>
                  <a:srgbClr val="525C64"/>
                </a:solidFill>
                <a:latin typeface="Calibri"/>
              </a:rPr>
              <a:t>Проверяем текущие РУ, техпаспорта и комплектацию вашего аппарата на сходимость с кодами КТРУ и стандартами оснащения. Выдаём карту разрывов.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3080" y="1911095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1792" y="2788920"/>
            <a:ext cx="3328416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9E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4672" y="2944368"/>
            <a:ext cx="2962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29E92"/>
                </a:solidFill>
                <a:latin typeface="Calibri"/>
              </a:rPr>
              <a:t>СРОК ЭТАПА: 1 НЕДЕЛЯ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98720" y="3291840"/>
            <a:ext cx="2194560" cy="13716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4672" y="3401568"/>
            <a:ext cx="296265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61C20"/>
                </a:solidFill>
                <a:latin typeface="Calibri"/>
              </a:rPr>
              <a:t>ВЫБОР ОТДЕЛЕНИЯ-ПИЛОТА</a:t>
            </a:r>
          </a:p>
          <a:p>
            <a:pPr algn="ctr">
              <a:lnSpc>
                <a:spcPct val="115000"/>
              </a:lnSpc>
            </a:pPr>
            <a:r>
              <a:rPr sz="1019" b="0">
                <a:solidFill>
                  <a:srgbClr val="525C64"/>
                </a:solidFill>
                <a:latin typeface="Calibri"/>
              </a:rPr>
              <a:t>Фиксируем одно пилотное подразделение, собираем layout-схему кабинета, таблицу соответствия КТРУ/ГОСТ и проект клинического протокола.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6580" y="1911095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5292" y="2788920"/>
            <a:ext cx="3328416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9E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8172" y="2944368"/>
            <a:ext cx="2962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29E92"/>
                </a:solidFill>
                <a:latin typeface="Calibri"/>
              </a:rPr>
              <a:t>СРОК ЭТАПА: 12 ДНЕЙ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72220" y="3291840"/>
            <a:ext cx="2194560" cy="13716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8172" y="3401568"/>
            <a:ext cx="296265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61C20"/>
                </a:solidFill>
                <a:latin typeface="Calibri"/>
              </a:rPr>
              <a:t>ЗАЩИТА НА КОМИССИИ РМТ</a:t>
            </a:r>
          </a:p>
          <a:p>
            <a:pPr algn="ctr">
              <a:lnSpc>
                <a:spcPct val="115000"/>
              </a:lnSpc>
            </a:pPr>
            <a:r>
              <a:rPr sz="1019" b="0">
                <a:solidFill>
                  <a:srgbClr val="525C64"/>
                </a:solidFill>
                <a:latin typeface="Calibri"/>
              </a:rPr>
              <a:t>Проводим внутреннюю приёмку, обучаем врачей отделения и выходим на комиссию НПО РМТ с полностью готовой экосистемой.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9253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ВЫ ПОЛУЧАЕТЕ ГОТОВЫЙ ПАКЕТ ПИЛОТНОГО ОТДЕЛЕНИЯ ЕЩЁ ДО ПОДПИСАНИЯ ОСНОВНОГО КОНТРАКТА НА СЕРИЙНЫЕ ПОСТАВКИ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51560" y="365760"/>
            <a:ext cx="4069079" cy="16459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93792" y="219456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6E64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629107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WWW.RMT-ECO.RU</a:t>
            </a:r>
          </a:p>
        </p:txBody>
      </p:sp>
      <p:pic>
        <p:nvPicPr>
          <p:cNvPr id="6" name="Picture 5" descr="diamond_bu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" y="1014983"/>
            <a:ext cx="5120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>
                <a:solidFill>
                  <a:srgbClr val="161C20"/>
                </a:solidFill>
                <a:latin typeface="Calibri"/>
              </a:rPr>
              <a:t>СОБЕРЁМ ЭКОСИСТЕМУ
ПОД ВАШЕ ОБОРУДОВАНИЕ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84831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525C64"/>
                </a:solidFill>
                <a:latin typeface="Calibri"/>
              </a:rPr>
              <a:t>Отправьте спецификацию или РУ вашего аппарата — за 24 часа подготовим карту вхождения в контур НПО РМТ и расчёт пилота:</a:t>
            </a:r>
          </a:p>
        </p:txBody>
      </p:sp>
      <p:pic>
        <p:nvPicPr>
          <p:cNvPr id="9" name="Picture 8" descr="ic_dev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880360"/>
            <a:ext cx="566928" cy="56692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98448" y="3127248"/>
            <a:ext cx="4078224" cy="13716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852928"/>
            <a:ext cx="40782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29E92"/>
                </a:solidFill>
                <a:latin typeface="Calibri"/>
              </a:rPr>
              <a:t>КОНТАКТНОЕ ЛИЦО ПРОЕКТА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182112"/>
            <a:ext cx="407822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C64"/>
                </a:solidFill>
                <a:latin typeface="Calibri"/>
              </a:rPr>
              <a:t>Марина Петрушина · Архитектор MedTech-решений и нормативной упаковки медоборудования</a:t>
            </a:r>
          </a:p>
        </p:txBody>
      </p:sp>
      <p:pic>
        <p:nvPicPr>
          <p:cNvPr id="13" name="Picture 12" descr="ic_ktr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977639"/>
            <a:ext cx="566928" cy="56692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98448" y="4224527"/>
            <a:ext cx="4078224" cy="13716"/>
          </a:xfrm>
          <a:prstGeom prst="rect">
            <a:avLst/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3950207"/>
            <a:ext cx="40782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29E92"/>
                </a:solidFill>
                <a:latin typeface="Calibri"/>
              </a:rPr>
              <a:t>ПРЯМАЯ СВЯЗЬ ДЛЯ БРИФА И ДОКУМЕНТОВ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279392"/>
            <a:ext cx="407822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C64"/>
                </a:solidFill>
                <a:latin typeface="Calibri"/>
              </a:rPr>
              <a:t>Telegram: @medtech_rmt   ·   E-mail: partner@rmt-eco.ru   ·   Тел.: +7 (495) 000-00-00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166360"/>
            <a:ext cx="4754880" cy="621792"/>
          </a:xfrm>
          <a:prstGeom prst="roundRect">
            <a:avLst>
              <a:gd name="adj" fmla="val 18000"/>
            </a:avLst>
          </a:prstGeom>
          <a:solidFill>
            <a:srgbClr val="229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166360"/>
            <a:ext cx="47548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ЗАПРОСИТЬ ЭКСПРЕСС-АУДИТ ПАКЕТА  ───►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